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5A679CF-AFE1-4EFD-9036-F3C8C9CDF0F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0DB658-2F06-46AE-89A3-A27C5F72F3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184E17-AB29-4D7C-B031-74B546DB59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DC381F-D0B4-4765-B617-9A50368E73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498B79-DE7D-4F46-8EF6-3D31DCD2CD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E9BD8C-4009-4CE9-BB94-305DF878BD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3A38AC-3C79-4928-A912-E2C29334E9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B42CDD-256C-4B6A-9179-CA182EE5FA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B54721-6916-436E-BB38-2E49DA903A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7C6F0-3E7C-45A1-BE9A-CB7B25B1C2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3840480" y="502920"/>
            <a:ext cx="1462680" cy="1737000"/>
          </a:xfrm>
          <a:prstGeom prst="roundRect">
            <a:avLst>
              <a:gd name="adj" fmla="val 12500"/>
            </a:avLst>
          </a:prstGeom>
          <a:solidFill>
            <a:srgbClr val="00b4d8">
              <a:alpha val="20000"/>
            </a:srgbClr>
          </a:solidFill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114800" y="685800"/>
            <a:ext cx="914040" cy="1005480"/>
          </a:xfrm>
          <a:prstGeom prst="roundRect">
            <a:avLst>
              <a:gd name="adj" fmla="val 10000"/>
            </a:avLst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886200" y="548640"/>
            <a:ext cx="137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Calibri"/>
              </a:rPr>
              <a:t>🛡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201168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398" strike="noStrike">
                <a:solidFill>
                  <a:srgbClr val="ffffff"/>
                </a:solidFill>
                <a:latin typeface="Arial Black"/>
                <a:ea typeface="Arial Black"/>
              </a:rPr>
              <a:t>DETECTION ENGINE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28803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b4d8"/>
                </a:solidFill>
                <a:latin typeface="Calibri"/>
                <a:ea typeface="Calibri"/>
              </a:rPr>
              <a:t>Point d'Avancement Hebdomadaire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743200" y="3429000"/>
            <a:ext cx="3657240" cy="36360"/>
          </a:xfrm>
          <a:prstGeom prst="rect">
            <a:avLst/>
          </a:prstGeom>
          <a:solidFill>
            <a:srgbClr val="607b8b"/>
          </a:solidFill>
          <a:ln w="1270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356616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8c8d8"/>
                </a:solidFill>
                <a:latin typeface="Calibri"/>
                <a:ea typeface="Calibri"/>
              </a:rPr>
              <a:t>BILAL  •  Analyse &amp; Détection  •  Système Anti-WAF Hybride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914400" y="4206240"/>
            <a:ext cx="1691280" cy="347040"/>
          </a:xfrm>
          <a:prstGeom prst="roundRect">
            <a:avLst>
              <a:gd name="adj" fmla="val 26316"/>
            </a:avLst>
          </a:prstGeom>
          <a:solidFill>
            <a:srgbClr val="1b2f4b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914400" y="42062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Pattern Matching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2834640" y="4206240"/>
            <a:ext cx="1691280" cy="347040"/>
          </a:xfrm>
          <a:prstGeom prst="roundRect">
            <a:avLst>
              <a:gd name="adj" fmla="val 26316"/>
            </a:avLst>
          </a:prstGeom>
          <a:solidFill>
            <a:srgbClr val="1b2f4b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2834640" y="42062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Rate Limiting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754880" y="4206240"/>
            <a:ext cx="1691280" cy="347040"/>
          </a:xfrm>
          <a:prstGeom prst="roundRect">
            <a:avLst>
              <a:gd name="adj" fmla="val 26316"/>
            </a:avLst>
          </a:prstGeom>
          <a:solidFill>
            <a:srgbClr val="1b2f4b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754880" y="42062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Anomaly Detection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675120" y="4206240"/>
            <a:ext cx="1691280" cy="347040"/>
          </a:xfrm>
          <a:prstGeom prst="roundRect">
            <a:avLst>
              <a:gd name="adj" fmla="val 26316"/>
            </a:avLst>
          </a:prstGeom>
          <a:solidFill>
            <a:srgbClr val="1b2f4b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675120" y="42062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ML Pipeline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0" y="5074920"/>
            <a:ext cx="9143640" cy="684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65760" y="1828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199" strike="noStrike">
                <a:solidFill>
                  <a:srgbClr val="ffffff"/>
                </a:solidFill>
                <a:latin typeface="Arial Black"/>
                <a:ea typeface="Arial Black"/>
              </a:rPr>
              <a:t>MON RÔLE DANS LE PROJET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365760" y="71316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Je suis le pont entre l'attaquant et l'intelligence artificielle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457200" y="1234440"/>
            <a:ext cx="2377080" cy="2559960"/>
          </a:xfrm>
          <a:prstGeom prst="rect">
            <a:avLst/>
          </a:prstGeom>
          <a:solidFill>
            <a:srgbClr val="1b2f4b"/>
          </a:solidFill>
          <a:ln w="1905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457200" y="137160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⚔️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457200" y="2011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b703"/>
                </a:solidFill>
                <a:latin typeface="Arial Black"/>
                <a:ea typeface="Arial Black"/>
              </a:rPr>
              <a:t>MOUAD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457200" y="23774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Fuzzing Engine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457200" y="274320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Génère les attaques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et payloads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2834640" y="2468880"/>
            <a:ext cx="228240" cy="72720"/>
          </a:xfrm>
          <a:prstGeom prst="rect">
            <a:avLst/>
          </a:prstGeom>
          <a:solidFill>
            <a:srgbClr val="607b8b"/>
          </a:solidFill>
          <a:ln w="1270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2944440" y="2359080"/>
            <a:ext cx="228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07b8b"/>
                </a:solidFill>
                <a:latin typeface="Calibri"/>
              </a:rPr>
              <a:t>▶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3246120" y="1143000"/>
            <a:ext cx="2559960" cy="2742840"/>
          </a:xfrm>
          <a:prstGeom prst="rect">
            <a:avLst/>
          </a:prstGeom>
          <a:solidFill>
            <a:srgbClr val="00b4d8">
              <a:alpha val="12000"/>
            </a:srgbClr>
          </a:solidFill>
          <a:ln w="317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3246120" y="12801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🛡️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3246120" y="19202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b4d8"/>
                </a:solidFill>
                <a:latin typeface="Arial Black"/>
                <a:ea typeface="Arial Black"/>
              </a:rPr>
              <a:t>BILAL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3246120" y="2286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Detection Engine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3246120" y="265176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Analyse le trafic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et génère les alertes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3246120" y="3429000"/>
            <a:ext cx="25599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3246120" y="3429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</a:rPr>
              <a:t>C'EST MOI 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5806440" y="2468880"/>
            <a:ext cx="228240" cy="72720"/>
          </a:xfrm>
          <a:prstGeom prst="rect">
            <a:avLst/>
          </a:prstGeom>
          <a:solidFill>
            <a:srgbClr val="607b8b"/>
          </a:solidFill>
          <a:ln w="1270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5916240" y="2359080"/>
            <a:ext cx="228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07b8b"/>
                </a:solidFill>
                <a:latin typeface="Calibri"/>
              </a:rPr>
              <a:t>▶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6217920" y="1234440"/>
            <a:ext cx="2377080" cy="2559960"/>
          </a:xfrm>
          <a:prstGeom prst="rect">
            <a:avLst/>
          </a:prstGeom>
          <a:solidFill>
            <a:srgbClr val="1b2f4b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6217920" y="137160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🧠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6217920" y="2011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d6a0"/>
                </a:solidFill>
                <a:latin typeface="Arial Black"/>
                <a:ea typeface="Arial Black"/>
              </a:rPr>
              <a:t>HAMZA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6217920" y="23774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ML Classifier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6217920" y="274320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Filtre les faux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positifs via ML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24"/>
          <p:cNvSpPr/>
          <p:nvPr/>
        </p:nvSpPr>
        <p:spPr>
          <a:xfrm>
            <a:off x="365760" y="4224600"/>
            <a:ext cx="8412120" cy="621360"/>
          </a:xfrm>
          <a:prstGeom prst="rect">
            <a:avLst/>
          </a:prstGeom>
          <a:solidFill>
            <a:srgbClr val="1b2f4b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365760" y="4224600"/>
            <a:ext cx="8412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Objectif clé 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Réduire les faux positifs de </a:t>
            </a: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70%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 →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10%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  grâce à la combinaison Détection + ML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65760" y="1828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199" strike="noStrike">
                <a:solidFill>
                  <a:srgbClr val="ffffff"/>
                </a:solidFill>
                <a:latin typeface="Arial Black"/>
                <a:ea typeface="Arial Black"/>
              </a:rPr>
              <a:t>LE PROBLÈME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365760" y="71316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ef233c"/>
                </a:solidFill>
                <a:latin typeface="Calibri"/>
                <a:ea typeface="Calibri"/>
              </a:rPr>
              <a:t>Pourquoi les WAFs traditionnels ne suffisent pas 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274320" y="1188720"/>
            <a:ext cx="4114440" cy="3291480"/>
          </a:xfrm>
          <a:prstGeom prst="rect">
            <a:avLst/>
          </a:prstGeom>
          <a:solidFill>
            <a:srgbClr val="1b2f4b"/>
          </a:solidFill>
          <a:ln w="1905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274320" y="11887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f233c"/>
                </a:solidFill>
                <a:latin typeface="Arial"/>
                <a:ea typeface="Arial"/>
              </a:rPr>
              <a:t>⚠️  </a:t>
            </a:r>
            <a:r>
              <a:rPr b="1" lang="en-US" sz="1300" spc="-1" strike="noStrike">
                <a:solidFill>
                  <a:srgbClr val="ef233c"/>
                </a:solidFill>
                <a:latin typeface="Arial"/>
                <a:ea typeface="Arial"/>
              </a:rPr>
              <a:t>WAF TRADITIONNEL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274320" y="1600200"/>
            <a:ext cx="4114440" cy="36360"/>
          </a:xfrm>
          <a:prstGeom prst="rect">
            <a:avLst/>
          </a:prstGeom>
          <a:solidFill>
            <a:srgbClr val="ef233c">
              <a:alpha val="40000"/>
            </a:srgbClr>
          </a:solidFill>
          <a:ln w="12700">
            <a:solidFill>
              <a:srgbClr val="ef233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57200" y="173736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❌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Règles génériques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(pas adaptées à votre API)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457200" y="239580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❌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70% de faux positifs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(bloque du trafic légitime)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457200" y="305424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❌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Aveugle aux attaques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nouvellesZero-Day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457200" y="371232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❌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Pas de contexte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métier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4754880" y="1188720"/>
            <a:ext cx="4114440" cy="3291480"/>
          </a:xfrm>
          <a:prstGeom prst="rect">
            <a:avLst/>
          </a:prstGeom>
          <a:solidFill>
            <a:srgbClr val="1b2f4b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4754880" y="11887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Arial"/>
                <a:ea typeface="Arial"/>
              </a:rPr>
              <a:t>✅  </a:t>
            </a:r>
            <a:r>
              <a:rPr b="1" lang="en-US" sz="1300" spc="-1" strike="noStrike">
                <a:solidFill>
                  <a:srgbClr val="06d6a0"/>
                </a:solidFill>
                <a:latin typeface="Arial"/>
                <a:ea typeface="Arial"/>
              </a:rPr>
              <a:t>NOTRE SOLUTION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4754880" y="1600200"/>
            <a:ext cx="4114440" cy="36360"/>
          </a:xfrm>
          <a:prstGeom prst="rect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4937760" y="173736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Règles spécifiques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à votre API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4937760" y="239580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10% de faux positifs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grâce au ML (Hamza)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4937760" y="305424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Détection statistique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(Zero-Day possible)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4937760" y="371232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3 couches de défense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complémentaires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4206240" y="2514600"/>
            <a:ext cx="731160" cy="7311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4206240" y="25146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</a:rPr>
              <a:t>VS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365760" y="16452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97" strike="noStrike">
                <a:solidFill>
                  <a:srgbClr val="ffffff"/>
                </a:solidFill>
                <a:latin typeface="Arial Black"/>
                <a:ea typeface="Arial Black"/>
              </a:rPr>
              <a:t>ARCHITECTURE : 3 COUCHES DE DÉFENSE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365760" y="65844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Un entonnoir intelligent : du plus rapide au plus intelligent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3840480" y="960120"/>
            <a:ext cx="1462680" cy="319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3840480" y="9601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</a:rPr>
              <a:t>Requête HTTP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4160520" y="12618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b703"/>
                </a:solidFill>
                <a:latin typeface="Calibri"/>
              </a:rPr>
              <a:t>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1371600" y="1481400"/>
            <a:ext cx="6400440" cy="776880"/>
          </a:xfrm>
          <a:prstGeom prst="rect">
            <a:avLst/>
          </a:prstGeom>
          <a:solidFill>
            <a:srgbClr val="1a3a5c"/>
          </a:solidFill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1371600" y="1481400"/>
            <a:ext cx="109440" cy="776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1508760" y="1481400"/>
            <a:ext cx="456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Arial Black"/>
                <a:ea typeface="Arial Black"/>
              </a:rPr>
              <a:t>01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2011680" y="153612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Arial Black"/>
                <a:ea typeface="Arial Black"/>
              </a:rPr>
              <a:t>PATTERN MATCHING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2011680" y="186552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  <a:ea typeface="Calibri"/>
              </a:rPr>
              <a:t>Regex — Signatures d'attaques connues (SQLi, XSS, Path Traversal)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6858000" y="1481400"/>
            <a:ext cx="1096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</a:rPr>
              <a:t>⚡ </a:t>
            </a:r>
            <a:r>
              <a:rPr b="1" lang="en-US" sz="1100" spc="-1" strike="noStrike">
                <a:solidFill>
                  <a:srgbClr val="06d6a0"/>
                </a:solidFill>
                <a:latin typeface="Calibri"/>
              </a:rPr>
              <a:t>Rapide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4160520" y="22676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07b8b"/>
                </a:solidFill>
                <a:latin typeface="Calibri"/>
              </a:rPr>
              <a:t>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1828800" y="2487240"/>
            <a:ext cx="5486040" cy="776880"/>
          </a:xfrm>
          <a:prstGeom prst="rect">
            <a:avLst/>
          </a:prstGeom>
          <a:solidFill>
            <a:srgbClr val="1a3a5c"/>
          </a:solidFill>
          <a:ln w="254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4"/>
          <p:cNvSpPr/>
          <p:nvPr/>
        </p:nvSpPr>
        <p:spPr>
          <a:xfrm>
            <a:off x="1828800" y="2487240"/>
            <a:ext cx="109440" cy="776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1965960" y="2487240"/>
            <a:ext cx="456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b703"/>
                </a:solidFill>
                <a:latin typeface="Arial Black"/>
                <a:ea typeface="Arial Black"/>
              </a:rPr>
              <a:t>02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2468880" y="25419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b703"/>
                </a:solidFill>
                <a:latin typeface="Arial Black"/>
                <a:ea typeface="Arial Black"/>
              </a:rPr>
              <a:t>RATE LIMITING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2468880" y="287136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  <a:ea typeface="Calibri"/>
              </a:rPr>
              <a:t>Sliding Window — Volume par IP (Brute Force, DDoS, Scanning)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6583680" y="248724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b703"/>
                </a:solidFill>
                <a:latin typeface="Calibri"/>
              </a:rPr>
              <a:t>📊 </a:t>
            </a:r>
            <a:r>
              <a:rPr b="1" lang="en-US" sz="1000" spc="-1" strike="noStrike">
                <a:solidFill>
                  <a:srgbClr val="ffb703"/>
                </a:solidFill>
                <a:latin typeface="Calibri"/>
              </a:rPr>
              <a:t>Comportement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4160520" y="327348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07b8b"/>
                </a:solidFill>
                <a:latin typeface="Calibri"/>
              </a:rPr>
              <a:t>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20"/>
          <p:cNvSpPr/>
          <p:nvPr/>
        </p:nvSpPr>
        <p:spPr>
          <a:xfrm>
            <a:off x="2286000" y="3493080"/>
            <a:ext cx="4571640" cy="776880"/>
          </a:xfrm>
          <a:prstGeom prst="rect">
            <a:avLst/>
          </a:prstGeom>
          <a:solidFill>
            <a:srgbClr val="1a3a5c"/>
          </a:solidFill>
          <a:ln w="254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21"/>
          <p:cNvSpPr/>
          <p:nvPr/>
        </p:nvSpPr>
        <p:spPr>
          <a:xfrm>
            <a:off x="2286000" y="3493080"/>
            <a:ext cx="109440" cy="776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2423160" y="3493080"/>
            <a:ext cx="456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d6a0"/>
                </a:solidFill>
                <a:latin typeface="Arial Black"/>
                <a:ea typeface="Arial Black"/>
              </a:rPr>
              <a:t>03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2926080" y="354780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Arial Black"/>
                <a:ea typeface="Arial Black"/>
              </a:rPr>
              <a:t>ANOMALY DETECTION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2926080" y="38772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  <a:ea typeface="Calibri"/>
              </a:rPr>
              <a:t>3-Sigma + Entropie — Attaques inconnues Zero-Day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6400800" y="349308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</a:rPr>
              <a:t>🔬 </a:t>
            </a:r>
            <a:r>
              <a:rPr b="1" lang="en-US" sz="1000" spc="-1" strike="noStrike">
                <a:solidFill>
                  <a:srgbClr val="06d6a0"/>
                </a:solidFill>
                <a:latin typeface="Calibri"/>
              </a:rPr>
              <a:t>Zero-Day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4160520" y="427932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07b8b"/>
                </a:solidFill>
                <a:latin typeface="Calibri"/>
              </a:rPr>
              <a:t>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27"/>
          <p:cNvSpPr/>
          <p:nvPr/>
        </p:nvSpPr>
        <p:spPr>
          <a:xfrm>
            <a:off x="3474720" y="4507920"/>
            <a:ext cx="2194200" cy="3837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3474720" y="450792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🚨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ALERTE  →  ML (Hamza)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274320" y="164520"/>
            <a:ext cx="502560" cy="502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274320" y="16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Arial Black"/>
                <a:ea typeface="Arial Black"/>
              </a:rPr>
              <a:t>01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868680" y="1828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97" strike="noStrike">
                <a:solidFill>
                  <a:srgbClr val="ffffff"/>
                </a:solidFill>
                <a:latin typeface="Arial Black"/>
                <a:ea typeface="Arial Black"/>
              </a:rPr>
              <a:t>COUCHE 1 : PATTERN MATCHING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274320" y="7131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Détection des attaques connues via Expressions Régulières (Regex)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274320" y="10789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Arial"/>
                <a:ea typeface="Arial"/>
              </a:rPr>
              <a:t>💡 </a:t>
            </a:r>
            <a:r>
              <a:rPr b="1" lang="en-US" sz="1200" spc="-1" strike="noStrike">
                <a:solidFill>
                  <a:srgbClr val="00b4d8"/>
                </a:solidFill>
                <a:latin typeface="Arial"/>
                <a:ea typeface="Arial"/>
              </a:rPr>
              <a:t>COMMENT ÇA MARCHE 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6"/>
          <p:cNvSpPr/>
          <p:nvPr/>
        </p:nvSpPr>
        <p:spPr>
          <a:xfrm>
            <a:off x="274320" y="1389960"/>
            <a:ext cx="3931560" cy="2559960"/>
          </a:xfrm>
          <a:prstGeom prst="rect">
            <a:avLst/>
          </a:prstGeom>
          <a:solidFill>
            <a:srgbClr val="1b2f4b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457200" y="148140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1.  La requête HTTP arrive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457200" y="20300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2.  On parcourt les patterns Regex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457200" y="257868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3.  Si match → ALERTE (HIGH/CRITICAL)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457200" y="312732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8d8"/>
                </a:solidFill>
                <a:latin typeface="Calibri"/>
                <a:ea typeface="Calibri"/>
              </a:rPr>
              <a:t>4.  Si pas de match → couche suivante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4480560" y="10789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Arial"/>
                <a:ea typeface="Arial"/>
              </a:rPr>
              <a:t>🔍 </a:t>
            </a:r>
            <a:r>
              <a:rPr b="1" lang="en-US" sz="1200" spc="-1" strike="noStrike">
                <a:solidFill>
                  <a:srgbClr val="00b4d8"/>
                </a:solidFill>
                <a:latin typeface="Arial"/>
                <a:ea typeface="Arial"/>
              </a:rPr>
              <a:t>EXEMPLES DE REGEX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4480560" y="1389960"/>
            <a:ext cx="4388760" cy="548280"/>
          </a:xfrm>
          <a:prstGeom prst="rect">
            <a:avLst/>
          </a:prstGeom>
          <a:solidFill>
            <a:srgbClr val="1b2f4b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4480560" y="1389960"/>
            <a:ext cx="72720" cy="5482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4617720" y="14173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f233c"/>
                </a:solidFill>
                <a:latin typeface="Calibri"/>
                <a:ea typeface="Calibri"/>
              </a:rPr>
              <a:t>SQL Injection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4617720" y="166428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UNION SELECT | DROP TABLE | OR '1'='1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4480560" y="2011680"/>
            <a:ext cx="4388760" cy="548280"/>
          </a:xfrm>
          <a:prstGeom prst="rect">
            <a:avLst/>
          </a:prstGeom>
          <a:solidFill>
            <a:srgbClr val="1b2f4b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7"/>
          <p:cNvSpPr/>
          <p:nvPr/>
        </p:nvSpPr>
        <p:spPr>
          <a:xfrm>
            <a:off x="4480560" y="2011680"/>
            <a:ext cx="72720" cy="548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4617720" y="203904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XSS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4617720" y="228600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&lt;script&gt; | javascript: | onerror=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4480560" y="2633400"/>
            <a:ext cx="4388760" cy="548280"/>
          </a:xfrm>
          <a:prstGeom prst="rect">
            <a:avLst/>
          </a:prstGeom>
          <a:solidFill>
            <a:srgbClr val="1b2f4b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1"/>
          <p:cNvSpPr/>
          <p:nvPr/>
        </p:nvSpPr>
        <p:spPr>
          <a:xfrm>
            <a:off x="4480560" y="2633400"/>
            <a:ext cx="72720" cy="548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4617720" y="26607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Path Traversal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4617720" y="290772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../../../ | ....//....//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4480560" y="3255120"/>
            <a:ext cx="4388760" cy="548280"/>
          </a:xfrm>
          <a:prstGeom prst="rect">
            <a:avLst/>
          </a:prstGeom>
          <a:solidFill>
            <a:srgbClr val="1b2f4b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5"/>
          <p:cNvSpPr/>
          <p:nvPr/>
        </p:nvSpPr>
        <p:spPr>
          <a:xfrm>
            <a:off x="4480560" y="3255120"/>
            <a:ext cx="72720" cy="5482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4617720" y="328284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f233c"/>
                </a:solidFill>
                <a:latin typeface="Calibri"/>
                <a:ea typeface="Calibri"/>
              </a:rPr>
              <a:t>Cmd Injection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7"/>
          <p:cNvSpPr/>
          <p:nvPr/>
        </p:nvSpPr>
        <p:spPr>
          <a:xfrm>
            <a:off x="4617720" y="352944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; cat | | wget | `bash`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28"/>
          <p:cNvSpPr/>
          <p:nvPr/>
        </p:nvSpPr>
        <p:spPr>
          <a:xfrm>
            <a:off x="274320" y="4069080"/>
            <a:ext cx="4114440" cy="685440"/>
          </a:xfrm>
          <a:prstGeom prst="rect">
            <a:avLst/>
          </a:prstGeom>
          <a:solidFill>
            <a:srgbClr val="0d2e1a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9"/>
          <p:cNvSpPr/>
          <p:nvPr/>
        </p:nvSpPr>
        <p:spPr>
          <a:xfrm>
            <a:off x="457200" y="41421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Avantage : Ultra-rapide, aucune latence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30"/>
          <p:cNvSpPr/>
          <p:nvPr/>
        </p:nvSpPr>
        <p:spPr>
          <a:xfrm>
            <a:off x="4754880" y="4069080"/>
            <a:ext cx="4114440" cy="685440"/>
          </a:xfrm>
          <a:prstGeom prst="rect">
            <a:avLst/>
          </a:prstGeom>
          <a:solidFill>
            <a:srgbClr val="2e0d0d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31"/>
          <p:cNvSpPr/>
          <p:nvPr/>
        </p:nvSpPr>
        <p:spPr>
          <a:xfrm>
            <a:off x="4937760" y="41421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⚠️  </a:t>
            </a:r>
            <a:r>
              <a:rPr b="0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Limite : Aveugle aux attaques inconnues / obfusquées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>
            <a:off x="274320" y="164520"/>
            <a:ext cx="502560" cy="502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274320" y="16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Arial Black"/>
                <a:ea typeface="Arial Black"/>
              </a:rPr>
              <a:t>02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868680" y="1828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97" strike="noStrike">
                <a:solidFill>
                  <a:srgbClr val="ffffff"/>
                </a:solidFill>
                <a:latin typeface="Arial Black"/>
                <a:ea typeface="Arial Black"/>
              </a:rPr>
              <a:t>COUCHE 2 : RATE LIMITING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274320" y="7131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Détection des attaques par volume — Brute Force, DDoS, Scanning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274320" y="1078920"/>
            <a:ext cx="3840120" cy="2559960"/>
          </a:xfrm>
          <a:prstGeom prst="rect">
            <a:avLst/>
          </a:prstGeom>
          <a:solidFill>
            <a:srgbClr val="1b2f4b"/>
          </a:solidFill>
          <a:ln w="1905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274320" y="10789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f233c"/>
                </a:solidFill>
                <a:latin typeface="Calibri"/>
              </a:rPr>
              <a:t>❌  </a:t>
            </a:r>
            <a:r>
              <a:rPr b="1" lang="en-US" sz="1300" spc="-1" strike="noStrike">
                <a:solidFill>
                  <a:srgbClr val="ef233c"/>
                </a:solidFill>
                <a:latin typeface="Calibri"/>
              </a:rPr>
              <a:t>FIXED WINDOW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274320" y="1463040"/>
            <a:ext cx="3840120" cy="36360"/>
          </a:xfrm>
          <a:prstGeom prst="rect">
            <a:avLst/>
          </a:prstGeom>
          <a:solidFill>
            <a:srgbClr val="ef233c">
              <a:alpha val="30000"/>
            </a:srgbClr>
          </a:solidFill>
          <a:ln w="12700">
            <a:solidFill>
              <a:srgbClr val="ef233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457200" y="1600200"/>
            <a:ext cx="1462680" cy="548280"/>
          </a:xfrm>
          <a:prstGeom prst="rect">
            <a:avLst/>
          </a:prstGeom>
          <a:solidFill>
            <a:srgbClr val="3a1515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457200" y="16002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8d8"/>
                </a:solidFill>
                <a:latin typeface="Calibri"/>
              </a:rPr>
              <a:t>12:00 - 12:01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8d8"/>
                </a:solidFill>
                <a:latin typeface="Calibri"/>
              </a:rPr>
              <a:t>100 requêtes ✓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2011680" y="1600200"/>
            <a:ext cx="72720" cy="12798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1965960" y="29077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ef233c"/>
                </a:solidFill>
                <a:latin typeface="Calibri"/>
              </a:rPr>
              <a:t>RESET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2194560" y="1600200"/>
            <a:ext cx="1462680" cy="548280"/>
          </a:xfrm>
          <a:prstGeom prst="rect">
            <a:avLst/>
          </a:prstGeom>
          <a:solidFill>
            <a:srgbClr val="3a1515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2194560" y="16002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8d8"/>
                </a:solidFill>
                <a:latin typeface="Calibri"/>
              </a:rPr>
              <a:t>12:01 - 12:02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8d8"/>
                </a:solidFill>
                <a:latin typeface="Calibri"/>
              </a:rPr>
              <a:t>100 requêtes ✓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411480" y="228600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⚠️ </a:t>
            </a: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FAILLE : Un attaquant envoie 100 req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à 12:00:59 + 100 req à 12:01:01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→ </a:t>
            </a: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200 requêtes passent ! (double frontière)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5029200" y="1078920"/>
            <a:ext cx="3840120" cy="2559960"/>
          </a:xfrm>
          <a:prstGeom prst="rect">
            <a:avLst/>
          </a:prstGeom>
          <a:solidFill>
            <a:srgbClr val="1b2f4b"/>
          </a:solidFill>
          <a:ln w="254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5029200" y="10789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</a:rPr>
              <a:t>✅  </a:t>
            </a:r>
            <a:r>
              <a:rPr b="1" lang="en-US" sz="1300" spc="-1" strike="noStrike">
                <a:solidFill>
                  <a:srgbClr val="06d6a0"/>
                </a:solidFill>
                <a:latin typeface="Calibri"/>
              </a:rPr>
              <a:t>SLIDING WINDOW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5029200" y="1463040"/>
            <a:ext cx="3840120" cy="36360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5212080" y="1600200"/>
            <a:ext cx="3474360" cy="502560"/>
          </a:xfrm>
          <a:prstGeom prst="rect">
            <a:avLst/>
          </a:prstGeom>
          <a:solidFill>
            <a:srgbClr val="0d2e1a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5212080" y="1600200"/>
            <a:ext cx="3474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</a:rPr>
              <a:t>La fenêtre GLISSE en temps réel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</a:rPr>
              <a:t>(pas de reset rigide)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5257800" y="2651760"/>
            <a:ext cx="347040" cy="18252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257800" y="28530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07b8b"/>
                </a:solidFill>
                <a:latin typeface="Calibri"/>
              </a:rPr>
              <a:t>T-60s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5733360" y="2423160"/>
            <a:ext cx="347040" cy="41112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5733360" y="28530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07b8b"/>
                </a:solidFill>
                <a:latin typeface="Calibri"/>
              </a:rPr>
              <a:t>T-50s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6208920" y="2560320"/>
            <a:ext cx="347040" cy="27396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6208920" y="28530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07b8b"/>
                </a:solidFill>
                <a:latin typeface="Calibri"/>
              </a:rPr>
              <a:t>T-40s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26"/>
          <p:cNvSpPr/>
          <p:nvPr/>
        </p:nvSpPr>
        <p:spPr>
          <a:xfrm>
            <a:off x="6684120" y="2377440"/>
            <a:ext cx="347040" cy="4568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7"/>
          <p:cNvSpPr/>
          <p:nvPr/>
        </p:nvSpPr>
        <p:spPr>
          <a:xfrm>
            <a:off x="6684120" y="28530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07b8b"/>
                </a:solidFill>
                <a:latin typeface="Calibri"/>
              </a:rPr>
              <a:t>T-30s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28"/>
          <p:cNvSpPr/>
          <p:nvPr/>
        </p:nvSpPr>
        <p:spPr>
          <a:xfrm>
            <a:off x="7159680" y="2606040"/>
            <a:ext cx="347040" cy="2282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9"/>
          <p:cNvSpPr/>
          <p:nvPr/>
        </p:nvSpPr>
        <p:spPr>
          <a:xfrm>
            <a:off x="7159680" y="28530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07b8b"/>
                </a:solidFill>
                <a:latin typeface="Calibri"/>
              </a:rPr>
              <a:t>T-20s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30"/>
          <p:cNvSpPr/>
          <p:nvPr/>
        </p:nvSpPr>
        <p:spPr>
          <a:xfrm>
            <a:off x="7635240" y="2468880"/>
            <a:ext cx="347040" cy="36540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1"/>
          <p:cNvSpPr/>
          <p:nvPr/>
        </p:nvSpPr>
        <p:spPr>
          <a:xfrm>
            <a:off x="7635240" y="28530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07b8b"/>
                </a:solidFill>
                <a:latin typeface="Calibri"/>
              </a:rPr>
              <a:t>T-10s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32"/>
          <p:cNvSpPr/>
          <p:nvPr/>
        </p:nvSpPr>
        <p:spPr>
          <a:xfrm>
            <a:off x="8110800" y="2331720"/>
            <a:ext cx="347040" cy="50256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33"/>
          <p:cNvSpPr/>
          <p:nvPr/>
        </p:nvSpPr>
        <p:spPr>
          <a:xfrm>
            <a:off x="8110800" y="28530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07b8b"/>
                </a:solidFill>
                <a:latin typeface="Calibri"/>
              </a:rPr>
              <a:t>NOW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34"/>
          <p:cNvSpPr/>
          <p:nvPr/>
        </p:nvSpPr>
        <p:spPr>
          <a:xfrm>
            <a:off x="5166360" y="312732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La fenêtre voit TOUJOURS les 60 dernières secondes.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Impossible de tromper le compteur 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5"/>
          <p:cNvSpPr/>
          <p:nvPr/>
        </p:nvSpPr>
        <p:spPr>
          <a:xfrm>
            <a:off x="274320" y="3886200"/>
            <a:ext cx="8595000" cy="685440"/>
          </a:xfrm>
          <a:prstGeom prst="rect">
            <a:avLst/>
          </a:prstGeom>
          <a:solidFill>
            <a:srgbClr val="1a1f2e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36"/>
          <p:cNvSpPr/>
          <p:nvPr/>
        </p:nvSpPr>
        <p:spPr>
          <a:xfrm>
            <a:off x="274320" y="3886200"/>
            <a:ext cx="8595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Règle appliquée :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Si </a:t>
            </a:r>
            <a:r>
              <a:rPr b="1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IP envoie &gt; 100 requêtes/min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→ Blocage temporaire   |   </a:t>
            </a:r>
            <a:r>
              <a:rPr b="1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&gt; 10 échecs login/10min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→ Compte suspect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274320" y="164520"/>
            <a:ext cx="502560" cy="5025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74320" y="16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Arial Black"/>
                <a:ea typeface="Arial Black"/>
              </a:rPr>
              <a:t>03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868680" y="1828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97" strike="noStrike">
                <a:solidFill>
                  <a:srgbClr val="ffffff"/>
                </a:solidFill>
                <a:latin typeface="Arial Black"/>
                <a:ea typeface="Arial Black"/>
              </a:rPr>
              <a:t>COUCHE 3 : ANOMALY DETECTION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274320" y="7131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Détection des attaques INCONNUES — Zero-Day — Payloads obfusqués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274320" y="1078920"/>
            <a:ext cx="4114440" cy="2285640"/>
          </a:xfrm>
          <a:prstGeom prst="rect">
            <a:avLst/>
          </a:prstGeom>
          <a:solidFill>
            <a:srgbClr val="1b2f4b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274320" y="107892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</a:rPr>
              <a:t>📐  </a:t>
            </a:r>
            <a:r>
              <a:rPr b="1" lang="en-US" sz="1200" spc="-1" strike="noStrike">
                <a:solidFill>
                  <a:srgbClr val="06d6a0"/>
                </a:solidFill>
                <a:latin typeface="Calibri"/>
              </a:rPr>
              <a:t>RÈGLE DES 3-SIGMA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274320" y="1463040"/>
            <a:ext cx="4114440" cy="36360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457200" y="1572840"/>
            <a:ext cx="3657240" cy="502560"/>
          </a:xfrm>
          <a:prstGeom prst="rect">
            <a:avLst/>
          </a:prstGeom>
          <a:solidFill>
            <a:srgbClr val="0a1f1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457200" y="157284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onsolas"/>
                <a:ea typeface="Consolas"/>
              </a:rPr>
              <a:t>Seuil = Moyenne + 3 × Écart-type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457200" y="21488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Exemple URL : </a:t>
            </a:r>
            <a:r>
              <a:rPr b="0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Moy = 40 car   Écart = 10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548640" y="2354760"/>
            <a:ext cx="502560" cy="34272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548640" y="274320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d6a0"/>
                </a:solidFill>
                <a:latin typeface="Calibri"/>
              </a:rPr>
              <a:t>30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1234440" y="2217600"/>
            <a:ext cx="502560" cy="47988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1234440" y="274320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d6a0"/>
                </a:solidFill>
                <a:latin typeface="Calibri"/>
              </a:rPr>
              <a:t>40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1920240" y="2148840"/>
            <a:ext cx="502560" cy="54828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1920240" y="274320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d6a0"/>
                </a:solidFill>
                <a:latin typeface="Calibri"/>
              </a:rPr>
              <a:t>50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2606040" y="2286000"/>
            <a:ext cx="502560" cy="411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2606040" y="274320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alibri"/>
              </a:rPr>
              <a:t>70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9"/>
          <p:cNvSpPr/>
          <p:nvPr/>
        </p:nvSpPr>
        <p:spPr>
          <a:xfrm>
            <a:off x="3291840" y="2423160"/>
            <a:ext cx="502560" cy="2739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3291840" y="274320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f233c"/>
                </a:solidFill>
                <a:latin typeface="Calibri"/>
              </a:rPr>
              <a:t>95+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3246120" y="2240280"/>
            <a:ext cx="36360" cy="6580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3200400" y="2148840"/>
            <a:ext cx="639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f233c"/>
                </a:solidFill>
                <a:latin typeface="Calibri"/>
              </a:rPr>
              <a:t>SEUIL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f233c"/>
                </a:solidFill>
                <a:latin typeface="Calibri"/>
              </a:rPr>
              <a:t>70 car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365760" y="30175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f233c"/>
                </a:solidFill>
                <a:latin typeface="Calibri"/>
                <a:ea typeface="Calibri"/>
              </a:rPr>
              <a:t>Si URL &gt; 70 caractères → 🚨 ANOMALIE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4754880" y="1078920"/>
            <a:ext cx="4114440" cy="2285640"/>
          </a:xfrm>
          <a:prstGeom prst="rect">
            <a:avLst/>
          </a:prstGeom>
          <a:solidFill>
            <a:srgbClr val="1b2f4b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4754880" y="107892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🔢 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ENTROPIE (DÉSORDRE)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26"/>
          <p:cNvSpPr/>
          <p:nvPr/>
        </p:nvSpPr>
        <p:spPr>
          <a:xfrm>
            <a:off x="4754880" y="1463040"/>
            <a:ext cx="4114440" cy="3636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7"/>
          <p:cNvSpPr/>
          <p:nvPr/>
        </p:nvSpPr>
        <p:spPr>
          <a:xfrm>
            <a:off x="4937760" y="155448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L'entropie = mesure du HASARD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dans une chaîne de caractères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4937760" y="214884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"hello world"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29"/>
          <p:cNvSpPr/>
          <p:nvPr/>
        </p:nvSpPr>
        <p:spPr>
          <a:xfrm>
            <a:off x="6675120" y="2185560"/>
            <a:ext cx="548280" cy="20088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6693480" y="21855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6d6a0"/>
                </a:solidFill>
                <a:latin typeface="Calibri"/>
              </a:rPr>
              <a:t>3.2 bits → NORMAL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1"/>
          <p:cNvSpPr/>
          <p:nvPr/>
        </p:nvSpPr>
        <p:spPr>
          <a:xfrm>
            <a:off x="4937760" y="24231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"user@api.com"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32"/>
          <p:cNvSpPr/>
          <p:nvPr/>
        </p:nvSpPr>
        <p:spPr>
          <a:xfrm>
            <a:off x="6675120" y="2459880"/>
            <a:ext cx="694440" cy="20088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3"/>
          <p:cNvSpPr/>
          <p:nvPr/>
        </p:nvSpPr>
        <p:spPr>
          <a:xfrm>
            <a:off x="6693480" y="2459880"/>
            <a:ext cx="69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6d6a0"/>
                </a:solidFill>
                <a:latin typeface="Calibri"/>
              </a:rPr>
              <a:t>3.8 bits → NORMAL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4"/>
          <p:cNvSpPr/>
          <p:nvPr/>
        </p:nvSpPr>
        <p:spPr>
          <a:xfrm>
            <a:off x="4937760" y="2697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"x7$kQ9!mZ@2"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35"/>
          <p:cNvSpPr/>
          <p:nvPr/>
        </p:nvSpPr>
        <p:spPr>
          <a:xfrm>
            <a:off x="6675120" y="2734200"/>
            <a:ext cx="895680" cy="20088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36"/>
          <p:cNvSpPr/>
          <p:nvPr/>
        </p:nvSpPr>
        <p:spPr>
          <a:xfrm>
            <a:off x="6693480" y="2734200"/>
            <a:ext cx="895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b703"/>
                </a:solidFill>
                <a:latin typeface="Calibri"/>
              </a:rPr>
              <a:t>4.9 bits → SUSPECT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7"/>
          <p:cNvSpPr/>
          <p:nvPr/>
        </p:nvSpPr>
        <p:spPr>
          <a:xfrm>
            <a:off x="4937760" y="297180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c8d8"/>
                </a:solidFill>
                <a:latin typeface="Consolas"/>
                <a:ea typeface="Consolas"/>
              </a:rPr>
              <a:t>"aHR0cDovL..."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38"/>
          <p:cNvSpPr/>
          <p:nvPr/>
        </p:nvSpPr>
        <p:spPr>
          <a:xfrm>
            <a:off x="6693480" y="3008520"/>
            <a:ext cx="1115280" cy="200880"/>
          </a:xfrm>
          <a:prstGeom prst="rect">
            <a:avLst/>
          </a:prstGeom>
          <a:solidFill>
            <a:srgbClr val="ef233c">
              <a:alpha val="70000"/>
            </a:srgbClr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39"/>
          <p:cNvSpPr/>
          <p:nvPr/>
        </p:nvSpPr>
        <p:spPr>
          <a:xfrm>
            <a:off x="6693480" y="3008520"/>
            <a:ext cx="1115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f233c"/>
                </a:solidFill>
                <a:latin typeface="Calibri"/>
              </a:rPr>
              <a:t>6.1 bits → DANGER!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40"/>
          <p:cNvSpPr/>
          <p:nvPr/>
        </p:nvSpPr>
        <p:spPr>
          <a:xfrm>
            <a:off x="4937760" y="30175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f233c"/>
                </a:solidFill>
                <a:latin typeface="Calibri"/>
                <a:ea typeface="Calibri"/>
              </a:rPr>
              <a:t>Seuil : &gt; 5.0 bits → 🚨 ANOMALIE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41"/>
          <p:cNvSpPr/>
          <p:nvPr/>
        </p:nvSpPr>
        <p:spPr>
          <a:xfrm>
            <a:off x="274320" y="3474720"/>
            <a:ext cx="8595000" cy="1325520"/>
          </a:xfrm>
          <a:prstGeom prst="rect">
            <a:avLst/>
          </a:prstGeom>
          <a:solidFill>
            <a:srgbClr val="1b2f4b"/>
          </a:solidFill>
          <a:ln w="1270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42"/>
          <p:cNvSpPr/>
          <p:nvPr/>
        </p:nvSpPr>
        <p:spPr>
          <a:xfrm>
            <a:off x="274320" y="3474720"/>
            <a:ext cx="8595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</a:rPr>
              <a:t>Métriques surveillées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43"/>
          <p:cNvSpPr/>
          <p:nvPr/>
        </p:nvSpPr>
        <p:spPr>
          <a:xfrm>
            <a:off x="365760" y="38221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Longueur URL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44"/>
          <p:cNvSpPr/>
          <p:nvPr/>
        </p:nvSpPr>
        <p:spPr>
          <a:xfrm>
            <a:off x="365760" y="40780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30-80 car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45"/>
          <p:cNvSpPr/>
          <p:nvPr/>
        </p:nvSpPr>
        <p:spPr>
          <a:xfrm>
            <a:off x="365760" y="43160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⚠ </a:t>
            </a: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&gt; 200 car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46"/>
          <p:cNvSpPr/>
          <p:nvPr/>
        </p:nvSpPr>
        <p:spPr>
          <a:xfrm>
            <a:off x="2514600" y="38221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Nb paramètres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47"/>
          <p:cNvSpPr/>
          <p:nvPr/>
        </p:nvSpPr>
        <p:spPr>
          <a:xfrm>
            <a:off x="2514600" y="40780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1-5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48"/>
          <p:cNvSpPr/>
          <p:nvPr/>
        </p:nvSpPr>
        <p:spPr>
          <a:xfrm>
            <a:off x="2514600" y="43160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⚠ </a:t>
            </a: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&gt; 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49"/>
          <p:cNvSpPr/>
          <p:nvPr/>
        </p:nvSpPr>
        <p:spPr>
          <a:xfrm>
            <a:off x="4663440" y="38221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Taille body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50"/>
          <p:cNvSpPr/>
          <p:nvPr/>
        </p:nvSpPr>
        <p:spPr>
          <a:xfrm>
            <a:off x="4663440" y="40780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100-1000B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51"/>
          <p:cNvSpPr/>
          <p:nvPr/>
        </p:nvSpPr>
        <p:spPr>
          <a:xfrm>
            <a:off x="4663440" y="43160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⚠ </a:t>
            </a: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&gt; 10 000B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52"/>
          <p:cNvSpPr/>
          <p:nvPr/>
        </p:nvSpPr>
        <p:spPr>
          <a:xfrm>
            <a:off x="6812280" y="38221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Entropie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53"/>
          <p:cNvSpPr/>
          <p:nvPr/>
        </p:nvSpPr>
        <p:spPr>
          <a:xfrm>
            <a:off x="6812280" y="40780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3-4 bits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54"/>
          <p:cNvSpPr/>
          <p:nvPr/>
        </p:nvSpPr>
        <p:spPr>
          <a:xfrm>
            <a:off x="6812280" y="43160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⚠ </a:t>
            </a:r>
            <a:r>
              <a:rPr b="0" lang="en-US" sz="1000" spc="-1" strike="noStrike">
                <a:solidFill>
                  <a:srgbClr val="ef233c"/>
                </a:solidFill>
                <a:latin typeface="Calibri"/>
                <a:ea typeface="Calibri"/>
              </a:rPr>
              <a:t>&gt; 5 bits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365760" y="16452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97" strike="noStrike">
                <a:solidFill>
                  <a:srgbClr val="ffffff"/>
                </a:solidFill>
                <a:latin typeface="Arial Black"/>
                <a:ea typeface="Arial Black"/>
              </a:rPr>
              <a:t>COMPARAISON AVEC CLOUDFLARE WAF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365760" y="65844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Sur un échantillon de 100 requêtes (50 légitimes + 50 attaques)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274320" y="1051560"/>
            <a:ext cx="3748680" cy="3382920"/>
          </a:xfrm>
          <a:prstGeom prst="rect">
            <a:avLst/>
          </a:prstGeom>
          <a:solidFill>
            <a:srgbClr val="1b2f4b"/>
          </a:solidFill>
          <a:ln w="1905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274320" y="1051560"/>
            <a:ext cx="3748680" cy="475200"/>
          </a:xfrm>
          <a:prstGeom prst="rect">
            <a:avLst/>
          </a:prstGeom>
          <a:solidFill>
            <a:srgbClr val="2a2a3a"/>
          </a:solidFill>
          <a:ln w="1270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274320" y="105156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8c8d8"/>
                </a:solidFill>
                <a:latin typeface="Calibri"/>
              </a:rPr>
              <a:t>☁️  </a:t>
            </a:r>
            <a:r>
              <a:rPr b="1" lang="en-US" sz="1400" spc="-1" strike="noStrike">
                <a:solidFill>
                  <a:srgbClr val="b8c8d8"/>
                </a:solidFill>
                <a:latin typeface="Calibri"/>
              </a:rPr>
              <a:t>CLOUDFLARE WAF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411480" y="1664280"/>
            <a:ext cx="3474360" cy="566640"/>
          </a:xfrm>
          <a:prstGeom prst="rect">
            <a:avLst/>
          </a:prstGeom>
          <a:solidFill>
            <a:srgbClr val="1e2235"/>
          </a:solidFill>
          <a:ln w="635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502920" y="17100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Taux de détection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2743200" y="171000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d6a0"/>
                </a:solidFill>
                <a:latin typeface="Arial Black"/>
                <a:ea typeface="Arial Black"/>
              </a:rPr>
              <a:t>96%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411480" y="2322720"/>
            <a:ext cx="3474360" cy="566640"/>
          </a:xfrm>
          <a:prstGeom prst="rect">
            <a:avLst/>
          </a:prstGeom>
          <a:solidFill>
            <a:srgbClr val="1e2235"/>
          </a:solidFill>
          <a:ln w="635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502920" y="23684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❌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Faux positifs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2743200" y="236844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f233c"/>
                </a:solidFill>
                <a:latin typeface="Arial Black"/>
                <a:ea typeface="Arial Black"/>
              </a:rPr>
              <a:t>40%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2"/>
          <p:cNvSpPr/>
          <p:nvPr/>
        </p:nvSpPr>
        <p:spPr>
          <a:xfrm>
            <a:off x="411480" y="2980800"/>
            <a:ext cx="3474360" cy="566640"/>
          </a:xfrm>
          <a:prstGeom prst="rect">
            <a:avLst/>
          </a:prstGeom>
          <a:solidFill>
            <a:srgbClr val="1e2235"/>
          </a:solidFill>
          <a:ln w="635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502920" y="30265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⚠️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Précision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2743200" y="30265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703"/>
                </a:solidFill>
                <a:latin typeface="Arial Black"/>
                <a:ea typeface="Arial Black"/>
              </a:rPr>
              <a:t>70.6%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411480" y="3639240"/>
            <a:ext cx="3474360" cy="566640"/>
          </a:xfrm>
          <a:prstGeom prst="rect">
            <a:avLst/>
          </a:prstGeom>
          <a:solidFill>
            <a:srgbClr val="1e2235"/>
          </a:solidFill>
          <a:ln w="6350">
            <a:solidFill>
              <a:srgbClr val="607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502920" y="3684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❌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Contexte métier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2743200" y="368496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f233c"/>
                </a:solidFill>
                <a:latin typeface="Arial Black"/>
                <a:ea typeface="Arial Black"/>
              </a:rPr>
              <a:t>NON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18"/>
          <p:cNvSpPr/>
          <p:nvPr/>
        </p:nvSpPr>
        <p:spPr>
          <a:xfrm>
            <a:off x="5120640" y="1051560"/>
            <a:ext cx="3748680" cy="3382920"/>
          </a:xfrm>
          <a:prstGeom prst="rect">
            <a:avLst/>
          </a:prstGeom>
          <a:solidFill>
            <a:srgbClr val="1b2f4b"/>
          </a:solidFill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5120640" y="1051560"/>
            <a:ext cx="3748680" cy="475200"/>
          </a:xfrm>
          <a:prstGeom prst="rect">
            <a:avLst/>
          </a:prstGeom>
          <a:solidFill>
            <a:srgbClr val="0a2535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5120640" y="105156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</a:rPr>
              <a:t>🛡️  </a:t>
            </a:r>
            <a:r>
              <a:rPr b="1" lang="en-US" sz="1400" spc="-1" strike="noStrike">
                <a:solidFill>
                  <a:srgbClr val="00b4d8"/>
                </a:solidFill>
                <a:latin typeface="Calibri"/>
              </a:rPr>
              <a:t>NOTRE SYSTÈME + ML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1"/>
          <p:cNvSpPr/>
          <p:nvPr/>
        </p:nvSpPr>
        <p:spPr>
          <a:xfrm>
            <a:off x="5257800" y="1664280"/>
            <a:ext cx="3474360" cy="566640"/>
          </a:xfrm>
          <a:prstGeom prst="rect">
            <a:avLst/>
          </a:prstGeom>
          <a:solidFill>
            <a:srgbClr val="0a1f2e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5349240" y="17100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Taux de détection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7589520" y="171000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d6a0"/>
                </a:solidFill>
                <a:latin typeface="Arial Black"/>
                <a:ea typeface="Arial Black"/>
              </a:rPr>
              <a:t>95%+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4"/>
          <p:cNvSpPr/>
          <p:nvPr/>
        </p:nvSpPr>
        <p:spPr>
          <a:xfrm>
            <a:off x="5257800" y="2322720"/>
            <a:ext cx="3474360" cy="566640"/>
          </a:xfrm>
          <a:prstGeom prst="rect">
            <a:avLst/>
          </a:prstGeom>
          <a:solidFill>
            <a:srgbClr val="0a1f2e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5"/>
          <p:cNvSpPr/>
          <p:nvPr/>
        </p:nvSpPr>
        <p:spPr>
          <a:xfrm>
            <a:off x="5349240" y="23684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Faux positifs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26"/>
          <p:cNvSpPr/>
          <p:nvPr/>
        </p:nvSpPr>
        <p:spPr>
          <a:xfrm>
            <a:off x="7589520" y="236844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d6a0"/>
                </a:solidFill>
                <a:latin typeface="Arial Black"/>
                <a:ea typeface="Arial Black"/>
              </a:rPr>
              <a:t>10%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27"/>
          <p:cNvSpPr/>
          <p:nvPr/>
        </p:nvSpPr>
        <p:spPr>
          <a:xfrm>
            <a:off x="5257800" y="2980800"/>
            <a:ext cx="3474360" cy="566640"/>
          </a:xfrm>
          <a:prstGeom prst="rect">
            <a:avLst/>
          </a:prstGeom>
          <a:solidFill>
            <a:srgbClr val="0a1f2e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5349240" y="30265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✅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Précision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7589520" y="30265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d6a0"/>
                </a:solidFill>
                <a:latin typeface="Arial Black"/>
                <a:ea typeface="Arial Black"/>
              </a:rPr>
              <a:t>90%+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30"/>
          <p:cNvSpPr/>
          <p:nvPr/>
        </p:nvSpPr>
        <p:spPr>
          <a:xfrm>
            <a:off x="5257800" y="3639240"/>
            <a:ext cx="3474360" cy="566640"/>
          </a:xfrm>
          <a:prstGeom prst="rect">
            <a:avLst/>
          </a:prstGeom>
          <a:solidFill>
            <a:srgbClr val="0a1f2e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31"/>
          <p:cNvSpPr/>
          <p:nvPr/>
        </p:nvSpPr>
        <p:spPr>
          <a:xfrm>
            <a:off x="5349240" y="3684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🧠  </a:t>
            </a:r>
            <a:r>
              <a:rPr b="0" lang="en-US" sz="1100" spc="-1" strike="noStrike">
                <a:solidFill>
                  <a:srgbClr val="b8c8d8"/>
                </a:solidFill>
                <a:latin typeface="Calibri"/>
                <a:ea typeface="Calibri"/>
              </a:rPr>
              <a:t>Contexte métier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32"/>
          <p:cNvSpPr/>
          <p:nvPr/>
        </p:nvSpPr>
        <p:spPr>
          <a:xfrm>
            <a:off x="7589520" y="368496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b4d8"/>
                </a:solidFill>
                <a:latin typeface="Arial Black"/>
                <a:ea typeface="Arial Black"/>
              </a:rPr>
              <a:t>OUI 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33"/>
          <p:cNvSpPr/>
          <p:nvPr/>
        </p:nvSpPr>
        <p:spPr>
          <a:xfrm>
            <a:off x="4251960" y="2331720"/>
            <a:ext cx="639720" cy="639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4"/>
          <p:cNvSpPr/>
          <p:nvPr/>
        </p:nvSpPr>
        <p:spPr>
          <a:xfrm>
            <a:off x="4251960" y="233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</a:rPr>
              <a:t>WIN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35"/>
          <p:cNvSpPr/>
          <p:nvPr/>
        </p:nvSpPr>
        <p:spPr>
          <a:xfrm>
            <a:off x="274320" y="4572000"/>
            <a:ext cx="8595000" cy="502560"/>
          </a:xfrm>
          <a:prstGeom prst="rect">
            <a:avLst/>
          </a:prstGeom>
          <a:solidFill>
            <a:srgbClr val="0a2510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36"/>
          <p:cNvSpPr/>
          <p:nvPr/>
        </p:nvSpPr>
        <p:spPr>
          <a:xfrm>
            <a:off x="274320" y="457200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Conclusion :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On garde une détection comparable (95% vs 96%) tout en divisant les faux positifs par </a:t>
            </a: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4 !</a:t>
            </a:r>
            <a:r>
              <a:rPr b="0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  (40% → 10%)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365760" y="16452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199" strike="noStrike">
                <a:solidFill>
                  <a:srgbClr val="ffffff"/>
                </a:solidFill>
                <a:latin typeface="Arial Black"/>
                <a:ea typeface="Arial Black"/>
              </a:rPr>
              <a:t>PROCHAINES ÉTAPES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365760" y="68580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Semaine prochaine — Objectifs concrets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274320" y="1143000"/>
            <a:ext cx="8412120" cy="776880"/>
          </a:xfrm>
          <a:prstGeom prst="rect">
            <a:avLst/>
          </a:prstGeom>
          <a:solidFill>
            <a:srgbClr val="1b2f4b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274320" y="1143000"/>
            <a:ext cx="548280" cy="776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274320" y="114300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Arial Black"/>
                <a:ea typeface="Arial Black"/>
              </a:rPr>
              <a:t>01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960120" y="12160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Arial"/>
                <a:ea typeface="Arial"/>
              </a:rPr>
              <a:t>Implémenter les 50 règles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960120" y="15271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  <a:ea typeface="Calibri"/>
              </a:rPr>
              <a:t>Développer le moteur Python avec les 3 types de règles (Signature, Comportement, Statistique)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8"/>
          <p:cNvSpPr/>
          <p:nvPr/>
        </p:nvSpPr>
        <p:spPr>
          <a:xfrm>
            <a:off x="6675120" y="1325880"/>
            <a:ext cx="1737000" cy="383760"/>
          </a:xfrm>
          <a:prstGeom prst="rect">
            <a:avLst/>
          </a:prstGeom>
          <a:solidFill>
            <a:srgbClr val="1a1f2e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6675120" y="132588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</a:rPr>
              <a:t>🔄 </a:t>
            </a:r>
            <a:r>
              <a:rPr b="0" lang="en-US" sz="1000" spc="-1" strike="noStrike">
                <a:solidFill>
                  <a:srgbClr val="00b4d8"/>
                </a:solidFill>
                <a:latin typeface="Calibri"/>
              </a:rPr>
              <a:t>En cours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0"/>
          <p:cNvSpPr/>
          <p:nvPr/>
        </p:nvSpPr>
        <p:spPr>
          <a:xfrm>
            <a:off x="274320" y="2057400"/>
            <a:ext cx="8412120" cy="776880"/>
          </a:xfrm>
          <a:prstGeom prst="rect">
            <a:avLst/>
          </a:prstGeom>
          <a:solidFill>
            <a:srgbClr val="1b2f4b"/>
          </a:solidFill>
          <a:ln w="1905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274320" y="2057400"/>
            <a:ext cx="548280" cy="776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274320" y="205740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Arial Black"/>
                <a:ea typeface="Arial Black"/>
              </a:rPr>
              <a:t>02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960120" y="21304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703"/>
                </a:solidFill>
                <a:latin typeface="Arial"/>
                <a:ea typeface="Arial"/>
              </a:rPr>
              <a:t>Tests sur les payloads de Mouad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960120" y="24415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  <a:ea typeface="Calibri"/>
              </a:rPr>
              <a:t>Valider les règles sur les 500+ payloads générés — mesurer True Positive vs False Positive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>
            <a:off x="6675120" y="2240280"/>
            <a:ext cx="1737000" cy="383760"/>
          </a:xfrm>
          <a:prstGeom prst="rect">
            <a:avLst/>
          </a:prstGeom>
          <a:solidFill>
            <a:srgbClr val="1a1f2e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675120" y="224028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alibri"/>
              </a:rPr>
              <a:t>📋 </a:t>
            </a:r>
            <a:r>
              <a:rPr b="0" lang="en-US" sz="1000" spc="-1" strike="noStrike">
                <a:solidFill>
                  <a:srgbClr val="ffb703"/>
                </a:solidFill>
                <a:latin typeface="Calibri"/>
              </a:rPr>
              <a:t>À faire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7"/>
          <p:cNvSpPr/>
          <p:nvPr/>
        </p:nvSpPr>
        <p:spPr>
          <a:xfrm>
            <a:off x="274320" y="2971800"/>
            <a:ext cx="8412120" cy="776880"/>
          </a:xfrm>
          <a:prstGeom prst="rect">
            <a:avLst/>
          </a:prstGeom>
          <a:solidFill>
            <a:srgbClr val="1b2f4b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18"/>
          <p:cNvSpPr/>
          <p:nvPr/>
        </p:nvSpPr>
        <p:spPr>
          <a:xfrm>
            <a:off x="274320" y="2971800"/>
            <a:ext cx="548280" cy="776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274320" y="297180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Arial Black"/>
                <a:ea typeface="Arial Black"/>
              </a:rPr>
              <a:t>03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0"/>
          <p:cNvSpPr/>
          <p:nvPr/>
        </p:nvSpPr>
        <p:spPr>
          <a:xfrm>
            <a:off x="960120" y="30448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Arial"/>
                <a:ea typeface="Arial"/>
              </a:rPr>
              <a:t>Intégration backend (Ayoub)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960120" y="33559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  <a:ea typeface="Calibri"/>
              </a:rPr>
              <a:t>Connecter le moteur de détection à l'endpoint POST /detect dans FastAPI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22"/>
          <p:cNvSpPr/>
          <p:nvPr/>
        </p:nvSpPr>
        <p:spPr>
          <a:xfrm>
            <a:off x="6675120" y="3154680"/>
            <a:ext cx="1737000" cy="383760"/>
          </a:xfrm>
          <a:prstGeom prst="rect">
            <a:avLst/>
          </a:prstGeom>
          <a:solidFill>
            <a:srgbClr val="1a1f2e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23"/>
          <p:cNvSpPr/>
          <p:nvPr/>
        </p:nvSpPr>
        <p:spPr>
          <a:xfrm>
            <a:off x="6675120" y="315468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</a:rPr>
              <a:t>📋 </a:t>
            </a:r>
            <a:r>
              <a:rPr b="0" lang="en-US" sz="1000" spc="-1" strike="noStrike">
                <a:solidFill>
                  <a:srgbClr val="06d6a0"/>
                </a:solidFill>
                <a:latin typeface="Calibri"/>
              </a:rPr>
              <a:t>À faire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>
            <a:off x="274320" y="3886200"/>
            <a:ext cx="8412120" cy="776880"/>
          </a:xfrm>
          <a:prstGeom prst="rect">
            <a:avLst/>
          </a:prstGeom>
          <a:solidFill>
            <a:srgbClr val="1b2f4b"/>
          </a:solidFill>
          <a:ln w="19050">
            <a:solidFill>
              <a:srgbClr val="b8c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25"/>
          <p:cNvSpPr/>
          <p:nvPr/>
        </p:nvSpPr>
        <p:spPr>
          <a:xfrm>
            <a:off x="274320" y="3886200"/>
            <a:ext cx="548280" cy="77688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26"/>
          <p:cNvSpPr/>
          <p:nvPr/>
        </p:nvSpPr>
        <p:spPr>
          <a:xfrm>
            <a:off x="274320" y="388620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Arial Black"/>
                <a:ea typeface="Arial Black"/>
              </a:rPr>
              <a:t>04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960120" y="39592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8c8d8"/>
                </a:solidFill>
                <a:latin typeface="Arial"/>
                <a:ea typeface="Arial"/>
              </a:rPr>
              <a:t>Benchmark vs Cloudflare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8"/>
          <p:cNvSpPr/>
          <p:nvPr/>
        </p:nvSpPr>
        <p:spPr>
          <a:xfrm>
            <a:off x="960120" y="42703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  <a:ea typeface="Calibri"/>
              </a:rPr>
              <a:t>Préparer les 100 requêtes de test et générer le tableau comparatif final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29"/>
          <p:cNvSpPr/>
          <p:nvPr/>
        </p:nvSpPr>
        <p:spPr>
          <a:xfrm>
            <a:off x="6675120" y="4069080"/>
            <a:ext cx="1737000" cy="383760"/>
          </a:xfrm>
          <a:prstGeom prst="rect">
            <a:avLst/>
          </a:prstGeom>
          <a:solidFill>
            <a:srgbClr val="1a1f2e"/>
          </a:solidFill>
          <a:ln w="12700">
            <a:solidFill>
              <a:srgbClr val="b8c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30"/>
          <p:cNvSpPr/>
          <p:nvPr/>
        </p:nvSpPr>
        <p:spPr>
          <a:xfrm>
            <a:off x="6675120" y="406908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c8d8"/>
                </a:solidFill>
                <a:latin typeface="Calibri"/>
              </a:rPr>
              <a:t>📋 </a:t>
            </a:r>
            <a:r>
              <a:rPr b="0" lang="en-US" sz="1000" spc="-1" strike="noStrike">
                <a:solidFill>
                  <a:srgbClr val="b8c8d8"/>
                </a:solidFill>
                <a:latin typeface="Calibri"/>
              </a:rPr>
              <a:t>À faire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31"/>
          <p:cNvSpPr/>
          <p:nvPr/>
        </p:nvSpPr>
        <p:spPr>
          <a:xfrm>
            <a:off x="0" y="4956120"/>
            <a:ext cx="9143640" cy="684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2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b8b"/>
                </a:solidFill>
                <a:latin typeface="Calibri"/>
              </a:rPr>
              <a:t>Questions ?  •  Bilal — Detection Engine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2026-03-10T11:48:35Z</dcterms:created>
  <dc:creator>PptxGenJS</dc:creator>
  <dc:description/>
  <dc:language>en-US</dc:language>
  <cp:lastModifiedBy/>
  <dcterms:modified xsi:type="dcterms:W3CDTF">2026-03-11T14:47:04Z</dcterms:modified>
  <cp:revision>2</cp:revision>
  <dc:subject>PptxGenJS Presentation</dc:subject>
  <dc:title>Detection Engine - Point Hebdomadaire - Bilal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